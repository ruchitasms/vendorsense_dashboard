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Poppins"/>
      <p:regular r:id="rId13"/>
      <p:bold r:id="rId14"/>
      <p:italic r:id="rId15"/>
      <p:boldItalic r:id="rId16"/>
    </p:embeddedFont>
    <p:embeddedFont>
      <p:font typeface="La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oppins-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oppins-italic.fntdata"/><Relationship Id="rId14" Type="http://schemas.openxmlformats.org/officeDocument/2006/relationships/font" Target="fonts/Poppins-bold.fntdata"/><Relationship Id="rId17" Type="http://schemas.openxmlformats.org/officeDocument/2006/relationships/font" Target="fonts/Lato-regular.fntdata"/><Relationship Id="rId16" Type="http://schemas.openxmlformats.org/officeDocument/2006/relationships/font" Target="fonts/Poppins-boldItalic.fntdata"/><Relationship Id="rId5" Type="http://schemas.openxmlformats.org/officeDocument/2006/relationships/notesMaster" Target="notesMasters/notesMaster1.xml"/><Relationship Id="rId19" Type="http://schemas.openxmlformats.org/officeDocument/2006/relationships/font" Target="fonts/Lato-italic.fntdata"/><Relationship Id="rId6" Type="http://schemas.openxmlformats.org/officeDocument/2006/relationships/slide" Target="slides/slide1.xml"/><Relationship Id="rId18"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hyperlink" Target="https://www.linkedin.com/in/ruchita-s-shah/" TargetMode="External"/><Relationship Id="rId5" Type="http://schemas.openxmlformats.org/officeDocument/2006/relationships/hyperlink" Target="https://www.datascienceportfol.io/ruchitasc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095500" y="2175718"/>
            <a:ext cx="8001000"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1E293B"/>
                </a:solidFill>
                <a:latin typeface="Poppins"/>
                <a:ea typeface="Poppins"/>
                <a:cs typeface="Poppins"/>
                <a:sym typeface="Poppins"/>
              </a:rPr>
              <a:t>VendorSense</a:t>
            </a:r>
            <a:endParaRPr/>
          </a:p>
        </p:txBody>
      </p:sp>
      <p:sp>
        <p:nvSpPr>
          <p:cNvPr id="86" name="Google Shape;86;p13"/>
          <p:cNvSpPr txBox="1"/>
          <p:nvPr/>
        </p:nvSpPr>
        <p:spPr>
          <a:xfrm>
            <a:off x="2286000" y="312047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475569"/>
                </a:solidFill>
                <a:latin typeface="Lato"/>
                <a:ea typeface="Lato"/>
                <a:cs typeface="Lato"/>
                <a:sym typeface="Lato"/>
              </a:rPr>
              <a:t>A Proactive LCNC Application for </a:t>
            </a:r>
            <a:r>
              <a:rPr lang="en-US" sz="1800">
                <a:solidFill>
                  <a:srgbClr val="475569"/>
                </a:solidFill>
                <a:latin typeface="Lato"/>
                <a:ea typeface="Lato"/>
                <a:cs typeface="Lato"/>
                <a:sym typeface="Lato"/>
              </a:rPr>
              <a:t>Vendor</a:t>
            </a:r>
            <a:r>
              <a:rPr b="0" i="0" lang="en-US" sz="1800" u="none" cap="none" strike="noStrike">
                <a:solidFill>
                  <a:srgbClr val="475569"/>
                </a:solidFill>
                <a:latin typeface="Lato"/>
                <a:ea typeface="Lato"/>
                <a:cs typeface="Lato"/>
                <a:sym typeface="Lato"/>
              </a:rPr>
              <a:t> Contract Risk &amp; Compliance Monitoring</a:t>
            </a:r>
            <a:endParaRPr/>
          </a:p>
        </p:txBody>
      </p:sp>
      <p:sp>
        <p:nvSpPr>
          <p:cNvPr id="87" name="Google Shape;87;p13"/>
          <p:cNvSpPr txBox="1"/>
          <p:nvPr/>
        </p:nvSpPr>
        <p:spPr>
          <a:xfrm>
            <a:off x="1902625" y="4151775"/>
            <a:ext cx="8550600" cy="66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i="1" lang="en-US" sz="1650">
                <a:solidFill>
                  <a:srgbClr val="475569"/>
                </a:solidFill>
                <a:latin typeface="Lato"/>
                <a:ea typeface="Lato"/>
                <a:cs typeface="Lato"/>
                <a:sym typeface="Lato"/>
              </a:rPr>
              <a:t>Day 02: Final Submission: DecodingDataScience NoCode/LowCode Ai App Development Challenge (Nov ‘25)</a:t>
            </a:r>
            <a:endParaRPr/>
          </a:p>
        </p:txBody>
      </p:sp>
      <p:pic>
        <p:nvPicPr>
          <p:cNvPr id="88" name="Google Shape;88;p13"/>
          <p:cNvPicPr preferRelativeResize="0"/>
          <p:nvPr/>
        </p:nvPicPr>
        <p:blipFill>
          <a:blip r:embed="rId4">
            <a:alphaModFix/>
          </a:blip>
          <a:stretch>
            <a:fillRect/>
          </a:stretch>
        </p:blipFill>
        <p:spPr>
          <a:xfrm>
            <a:off x="1171563" y="5958838"/>
            <a:ext cx="923925" cy="733425"/>
          </a:xfrm>
          <a:prstGeom prst="rect">
            <a:avLst/>
          </a:prstGeom>
          <a:noFill/>
          <a:ln>
            <a:noFill/>
          </a:ln>
        </p:spPr>
      </p:pic>
      <p:pic>
        <p:nvPicPr>
          <p:cNvPr id="89" name="Google Shape;89;p13"/>
          <p:cNvPicPr preferRelativeResize="0"/>
          <p:nvPr/>
        </p:nvPicPr>
        <p:blipFill>
          <a:blip r:embed="rId5">
            <a:alphaModFix/>
          </a:blip>
          <a:stretch>
            <a:fillRect/>
          </a:stretch>
        </p:blipFill>
        <p:spPr>
          <a:xfrm>
            <a:off x="164524" y="5903599"/>
            <a:ext cx="923925" cy="8439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571500" y="2419350"/>
            <a:ext cx="5286375" cy="3086100"/>
          </a:xfrm>
          <a:prstGeom prst="rect">
            <a:avLst/>
          </a:prstGeom>
          <a:noFill/>
          <a:ln>
            <a:noFill/>
          </a:ln>
        </p:spPr>
      </p:pic>
      <p:pic>
        <p:nvPicPr>
          <p:cNvPr descr="image.png" id="96" name="Google Shape;96;p14"/>
          <p:cNvPicPr preferRelativeResize="0"/>
          <p:nvPr/>
        </p:nvPicPr>
        <p:blipFill rotWithShape="1">
          <a:blip r:embed="rId5">
            <a:alphaModFix/>
          </a:blip>
          <a:srcRect b="0" l="0" r="0" t="0"/>
          <a:stretch/>
        </p:blipFill>
        <p:spPr>
          <a:xfrm>
            <a:off x="6334125" y="2419350"/>
            <a:ext cx="5286375" cy="3086100"/>
          </a:xfrm>
          <a:prstGeom prst="rect">
            <a:avLst/>
          </a:prstGeom>
          <a:noFill/>
          <a:ln>
            <a:noFill/>
          </a:ln>
        </p:spPr>
      </p:pic>
      <p:sp>
        <p:nvSpPr>
          <p:cNvPr id="97" name="Google Shape;97;p14"/>
          <p:cNvSpPr txBox="1"/>
          <p:nvPr/>
        </p:nvSpPr>
        <p:spPr>
          <a:xfrm>
            <a:off x="962025" y="2809875"/>
            <a:ext cx="4730591"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D4ED8"/>
                </a:solidFill>
                <a:latin typeface="Poppins"/>
                <a:ea typeface="Poppins"/>
                <a:cs typeface="Poppins"/>
                <a:sym typeface="Poppins"/>
              </a:rPr>
              <a:t>The Problem</a:t>
            </a:r>
            <a:endParaRPr/>
          </a:p>
        </p:txBody>
      </p:sp>
      <p:sp>
        <p:nvSpPr>
          <p:cNvPr id="98" name="Google Shape;98;p14"/>
          <p:cNvSpPr txBox="1"/>
          <p:nvPr/>
        </p:nvSpPr>
        <p:spPr>
          <a:xfrm>
            <a:off x="961988" y="3400425"/>
            <a:ext cx="4505400" cy="2078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475569"/>
                </a:solidFill>
                <a:latin typeface="Lato"/>
                <a:ea typeface="Lato"/>
                <a:cs typeface="Lato"/>
                <a:sym typeface="Lato"/>
              </a:rPr>
              <a:t>Procurement &amp; </a:t>
            </a:r>
            <a:r>
              <a:rPr b="0" i="0" lang="en-US" sz="1500" u="none" cap="none" strike="noStrike">
                <a:solidFill>
                  <a:srgbClr val="475569"/>
                </a:solidFill>
                <a:latin typeface="Lato"/>
                <a:ea typeface="Lato"/>
                <a:cs typeface="Lato"/>
                <a:sym typeface="Lato"/>
              </a:rPr>
              <a:t> finance teams manually track hundreds of contracts, identifying risk only after failure. This reactive approach leads to predictable cost overruns, missed deadlines, and policy compliance breaches, wasting public funds and resources.</a:t>
            </a:r>
            <a:endParaRPr/>
          </a:p>
        </p:txBody>
      </p:sp>
      <p:sp>
        <p:nvSpPr>
          <p:cNvPr id="99" name="Google Shape;99;p14"/>
          <p:cNvSpPr txBox="1"/>
          <p:nvPr/>
        </p:nvSpPr>
        <p:spPr>
          <a:xfrm>
            <a:off x="6724650" y="2809875"/>
            <a:ext cx="4730591"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D4ED8"/>
                </a:solidFill>
                <a:latin typeface="Poppins"/>
                <a:ea typeface="Poppins"/>
                <a:cs typeface="Poppins"/>
                <a:sym typeface="Poppins"/>
              </a:rPr>
              <a:t>The Solution: VendorSense</a:t>
            </a:r>
            <a:endParaRPr/>
          </a:p>
        </p:txBody>
      </p:sp>
      <p:sp>
        <p:nvSpPr>
          <p:cNvPr id="100" name="Google Shape;100;p14"/>
          <p:cNvSpPr txBox="1"/>
          <p:nvPr/>
        </p:nvSpPr>
        <p:spPr>
          <a:xfrm>
            <a:off x="6724650" y="3400425"/>
            <a:ext cx="45053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A Low-Code/No-Code (LCNC) dashboard built in Glide that provides real-time, automated risk scoring and compliance flagging. VendorSense turns reactive data into proactive, actionable insights for auditors and managers.</a:t>
            </a:r>
            <a:endParaRPr/>
          </a:p>
        </p:txBody>
      </p:sp>
      <p:sp>
        <p:nvSpPr>
          <p:cNvPr id="101" name="Google Shape;101;p14"/>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1E293B"/>
                </a:solidFill>
                <a:latin typeface="Poppins"/>
                <a:ea typeface="Poppins"/>
                <a:cs typeface="Poppins"/>
                <a:sym typeface="Poppins"/>
              </a:rPr>
              <a:t>The Challenge &amp; The Solution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pic>
        <p:nvPicPr>
          <p:cNvPr descr="image.png" id="106" name="Google Shape;106;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7" name="Google Shape;107;p15"/>
          <p:cNvPicPr preferRelativeResize="0"/>
          <p:nvPr/>
        </p:nvPicPr>
        <p:blipFill rotWithShape="1">
          <a:blip r:embed="rId4">
            <a:alphaModFix/>
          </a:blip>
          <a:srcRect b="0" l="0" r="0" t="0"/>
          <a:stretch/>
        </p:blipFill>
        <p:spPr>
          <a:xfrm>
            <a:off x="571500" y="1581150"/>
            <a:ext cx="3429000" cy="4762500"/>
          </a:xfrm>
          <a:prstGeom prst="rect">
            <a:avLst/>
          </a:prstGeom>
          <a:noFill/>
          <a:ln>
            <a:noFill/>
          </a:ln>
        </p:spPr>
      </p:pic>
      <p:pic>
        <p:nvPicPr>
          <p:cNvPr descr="image.png" id="108" name="Google Shape;108;p15"/>
          <p:cNvPicPr preferRelativeResize="0"/>
          <p:nvPr/>
        </p:nvPicPr>
        <p:blipFill rotWithShape="1">
          <a:blip r:embed="rId5">
            <a:alphaModFix/>
          </a:blip>
          <a:srcRect b="0" l="0" r="0" t="0"/>
          <a:stretch/>
        </p:blipFill>
        <p:spPr>
          <a:xfrm>
            <a:off x="4381500" y="1581150"/>
            <a:ext cx="3429000" cy="4762500"/>
          </a:xfrm>
          <a:prstGeom prst="rect">
            <a:avLst/>
          </a:prstGeom>
          <a:noFill/>
          <a:ln>
            <a:noFill/>
          </a:ln>
        </p:spPr>
      </p:pic>
      <p:pic>
        <p:nvPicPr>
          <p:cNvPr descr="image.png" id="109" name="Google Shape;109;p15"/>
          <p:cNvPicPr preferRelativeResize="0"/>
          <p:nvPr/>
        </p:nvPicPr>
        <p:blipFill rotWithShape="1">
          <a:blip r:embed="rId6">
            <a:alphaModFix/>
          </a:blip>
          <a:srcRect b="0" l="0" r="0" t="0"/>
          <a:stretch/>
        </p:blipFill>
        <p:spPr>
          <a:xfrm>
            <a:off x="8191500" y="1581150"/>
            <a:ext cx="3429000" cy="4762500"/>
          </a:xfrm>
          <a:prstGeom prst="rect">
            <a:avLst/>
          </a:prstGeom>
          <a:noFill/>
          <a:ln>
            <a:noFill/>
          </a:ln>
        </p:spPr>
      </p:pic>
      <p:sp>
        <p:nvSpPr>
          <p:cNvPr id="110" name="Google Shape;110;p15"/>
          <p:cNvSpPr txBox="1"/>
          <p:nvPr/>
        </p:nvSpPr>
        <p:spPr>
          <a:xfrm>
            <a:off x="866775" y="2590800"/>
            <a:ext cx="2980500"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563EB"/>
                </a:solidFill>
                <a:latin typeface="Poppins"/>
                <a:ea typeface="Poppins"/>
                <a:cs typeface="Poppins"/>
                <a:sym typeface="Poppins"/>
              </a:rPr>
              <a:t>1. Automat</a:t>
            </a:r>
            <a:r>
              <a:rPr b="1" i="0" lang="en-US" sz="2100" u="none" cap="none" strike="noStrike">
                <a:solidFill>
                  <a:srgbClr val="2563EB"/>
                </a:solidFill>
                <a:latin typeface="Poppins"/>
                <a:ea typeface="Poppins"/>
                <a:cs typeface="Poppins"/>
                <a:sym typeface="Poppins"/>
              </a:rPr>
              <a:t>ed Risk Score</a:t>
            </a:r>
            <a:endParaRPr/>
          </a:p>
        </p:txBody>
      </p:sp>
      <p:sp>
        <p:nvSpPr>
          <p:cNvPr id="111" name="Google Shape;111;p15"/>
          <p:cNvSpPr txBox="1"/>
          <p:nvPr/>
        </p:nvSpPr>
        <p:spPr>
          <a:xfrm>
            <a:off x="866775" y="3724275"/>
            <a:ext cx="2838450" cy="18288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0" i="0" lang="en-US" sz="1500" u="none" cap="none" strike="noStrike">
                <a:solidFill>
                  <a:srgbClr val="475569"/>
                </a:solidFill>
                <a:latin typeface="Lato"/>
                <a:ea typeface="Lato"/>
                <a:cs typeface="Lato"/>
                <a:sym typeface="Lato"/>
              </a:rPr>
              <a:t>Ranks all active contracts (High, Medium, Low) by analyzing real-time performance metrics: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 Cost Overrun %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 Reported Issues Count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 Days from Deadline</a:t>
            </a:r>
            <a:endParaRPr/>
          </a:p>
        </p:txBody>
      </p:sp>
      <p:sp>
        <p:nvSpPr>
          <p:cNvPr id="112" name="Google Shape;112;p15"/>
          <p:cNvSpPr txBox="1"/>
          <p:nvPr/>
        </p:nvSpPr>
        <p:spPr>
          <a:xfrm>
            <a:off x="4676775" y="2590800"/>
            <a:ext cx="2980500"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563EB"/>
                </a:solidFill>
                <a:latin typeface="Poppins"/>
                <a:ea typeface="Poppins"/>
                <a:cs typeface="Poppins"/>
                <a:sym typeface="Poppins"/>
              </a:rPr>
              <a:t>2. Proxy Compliance Flag</a:t>
            </a:r>
            <a:endParaRPr/>
          </a:p>
        </p:txBody>
      </p:sp>
      <p:sp>
        <p:nvSpPr>
          <p:cNvPr id="113" name="Google Shape;113;p15"/>
          <p:cNvSpPr txBox="1"/>
          <p:nvPr/>
        </p:nvSpPr>
        <p:spPr>
          <a:xfrm>
            <a:off x="4676775" y="3724275"/>
            <a:ext cx="2838450" cy="18288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b="0" i="0" lang="en-US" sz="1500" u="none" cap="none" strike="noStrike">
                <a:solidFill>
                  <a:srgbClr val="475569"/>
                </a:solidFill>
                <a:latin typeface="Lato"/>
                <a:ea typeface="Lato"/>
                <a:cs typeface="Lato"/>
                <a:sym typeface="Lato"/>
              </a:rPr>
              <a:t>Automatically flags contracts for policy violations, focusing on high-risk areas: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 T&amp;M Policy Violations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 Mandatory Clause Waivers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475569"/>
                </a:solidFill>
                <a:latin typeface="Lato"/>
                <a:ea typeface="Lato"/>
                <a:cs typeface="Lato"/>
                <a:sym typeface="Lato"/>
              </a:rPr>
              <a:t> • (And more)</a:t>
            </a:r>
            <a:endParaRPr/>
          </a:p>
        </p:txBody>
      </p:sp>
      <p:sp>
        <p:nvSpPr>
          <p:cNvPr id="114" name="Google Shape;114;p15"/>
          <p:cNvSpPr txBox="1"/>
          <p:nvPr/>
        </p:nvSpPr>
        <p:spPr>
          <a:xfrm>
            <a:off x="8486775" y="2590800"/>
            <a:ext cx="2980500"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563EB"/>
                </a:solidFill>
                <a:latin typeface="Poppins"/>
                <a:ea typeface="Poppins"/>
                <a:cs typeface="Poppins"/>
                <a:sym typeface="Poppins"/>
              </a:rPr>
              <a:t>3. Relational Aggregation</a:t>
            </a:r>
            <a:endParaRPr/>
          </a:p>
        </p:txBody>
      </p:sp>
      <p:sp>
        <p:nvSpPr>
          <p:cNvPr id="115" name="Google Shape;115;p15"/>
          <p:cNvSpPr txBox="1"/>
          <p:nvPr/>
        </p:nvSpPr>
        <p:spPr>
          <a:xfrm>
            <a:off x="8486775" y="3724275"/>
            <a:ext cx="2838450" cy="2133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Uses relational logic to roll up individual contract risks to the vendor level, identifying which *vendors* pose the greatest threat to the portfolio (e.g., "Vendor A has 5 contracts, 3 are HIGH RISK").</a:t>
            </a:r>
            <a:endParaRPr/>
          </a:p>
        </p:txBody>
      </p:sp>
      <p:pic>
        <p:nvPicPr>
          <p:cNvPr descr="image.png" id="116" name="Google Shape;116;p15"/>
          <p:cNvPicPr preferRelativeResize="0"/>
          <p:nvPr/>
        </p:nvPicPr>
        <p:blipFill rotWithShape="1">
          <a:blip r:embed="rId7">
            <a:alphaModFix/>
          </a:blip>
          <a:srcRect b="0" l="0" r="0" t="0"/>
          <a:stretch/>
        </p:blipFill>
        <p:spPr>
          <a:xfrm>
            <a:off x="866775" y="1895475"/>
            <a:ext cx="342900" cy="457200"/>
          </a:xfrm>
          <a:prstGeom prst="rect">
            <a:avLst/>
          </a:prstGeom>
          <a:noFill/>
          <a:ln>
            <a:noFill/>
          </a:ln>
        </p:spPr>
      </p:pic>
      <p:pic>
        <p:nvPicPr>
          <p:cNvPr descr="image.png" id="117" name="Google Shape;117;p15"/>
          <p:cNvPicPr preferRelativeResize="0"/>
          <p:nvPr/>
        </p:nvPicPr>
        <p:blipFill rotWithShape="1">
          <a:blip r:embed="rId8">
            <a:alphaModFix/>
          </a:blip>
          <a:srcRect b="0" l="0" r="0" t="0"/>
          <a:stretch/>
        </p:blipFill>
        <p:spPr>
          <a:xfrm>
            <a:off x="4676775" y="1895475"/>
            <a:ext cx="400050" cy="457200"/>
          </a:xfrm>
          <a:prstGeom prst="rect">
            <a:avLst/>
          </a:prstGeom>
          <a:noFill/>
          <a:ln>
            <a:noFill/>
          </a:ln>
        </p:spPr>
      </p:pic>
      <p:pic>
        <p:nvPicPr>
          <p:cNvPr descr="image.png" id="118" name="Google Shape;118;p15"/>
          <p:cNvPicPr preferRelativeResize="0"/>
          <p:nvPr/>
        </p:nvPicPr>
        <p:blipFill rotWithShape="1">
          <a:blip r:embed="rId9">
            <a:alphaModFix/>
          </a:blip>
          <a:srcRect b="0" l="0" r="0" t="0"/>
          <a:stretch/>
        </p:blipFill>
        <p:spPr>
          <a:xfrm>
            <a:off x="8486775" y="1895475"/>
            <a:ext cx="571500" cy="457200"/>
          </a:xfrm>
          <a:prstGeom prst="rect">
            <a:avLst/>
          </a:prstGeom>
          <a:noFill/>
          <a:ln>
            <a:noFill/>
          </a:ln>
        </p:spPr>
      </p:pic>
      <p:sp>
        <p:nvSpPr>
          <p:cNvPr id="119" name="Google Shape;119;p15"/>
          <p:cNvSpPr txBox="1"/>
          <p:nvPr/>
        </p:nvSpPr>
        <p:spPr>
          <a:xfrm>
            <a:off x="571500" y="51435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1E293B"/>
                </a:solidFill>
                <a:latin typeface="Poppins"/>
                <a:ea typeface="Poppins"/>
                <a:cs typeface="Poppins"/>
                <a:sym typeface="Poppins"/>
              </a:rPr>
              <a:t>How It Works: The Logic Engine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pic>
        <p:nvPicPr>
          <p:cNvPr descr="image.png" id="124" name="Google Shape;124;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5" name="Google Shape;125;p16"/>
          <p:cNvPicPr preferRelativeResize="0"/>
          <p:nvPr/>
        </p:nvPicPr>
        <p:blipFill rotWithShape="1">
          <a:blip r:embed="rId4">
            <a:alphaModFix/>
          </a:blip>
          <a:srcRect b="0" l="0" r="0" t="0"/>
          <a:stretch/>
        </p:blipFill>
        <p:spPr>
          <a:xfrm>
            <a:off x="571500" y="1638300"/>
            <a:ext cx="11049000" cy="4648200"/>
          </a:xfrm>
          <a:prstGeom prst="rect">
            <a:avLst/>
          </a:prstGeom>
          <a:noFill/>
          <a:ln>
            <a:noFill/>
          </a:ln>
        </p:spPr>
      </p:pic>
      <p:sp>
        <p:nvSpPr>
          <p:cNvPr id="126" name="Google Shape;126;p16"/>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1E293B"/>
                </a:solidFill>
                <a:latin typeface="Poppins"/>
                <a:ea typeface="Poppins"/>
                <a:cs typeface="Poppins"/>
                <a:sym typeface="Poppins"/>
              </a:rPr>
              <a:t>The VendorSense Data Pipeline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pic>
        <p:nvPicPr>
          <p:cNvPr descr="image.png" id="131" name="Google Shape;131;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2" name="Google Shape;132;p17"/>
          <p:cNvSpPr txBox="1"/>
          <p:nvPr/>
        </p:nvSpPr>
        <p:spPr>
          <a:xfrm>
            <a:off x="571500" y="5715000"/>
            <a:ext cx="5334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1. Strategic View (Vendor Health)</a:t>
            </a:r>
            <a:endParaRPr/>
          </a:p>
        </p:txBody>
      </p:sp>
      <p:sp>
        <p:nvSpPr>
          <p:cNvPr id="133" name="Google Shape;133;p17"/>
          <p:cNvSpPr txBox="1"/>
          <p:nvPr/>
        </p:nvSpPr>
        <p:spPr>
          <a:xfrm>
            <a:off x="6286500" y="5715000"/>
            <a:ext cx="5334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500" u="none" cap="none" strike="noStrike">
                <a:solidFill>
                  <a:srgbClr val="475569"/>
                </a:solidFill>
                <a:latin typeface="Lato"/>
                <a:ea typeface="Lato"/>
                <a:cs typeface="Lato"/>
                <a:sym typeface="Lato"/>
              </a:rPr>
              <a:t>2. Operational View (Contracts List)</a:t>
            </a:r>
            <a:endParaRPr/>
          </a:p>
        </p:txBody>
      </p:sp>
      <p:sp>
        <p:nvSpPr>
          <p:cNvPr id="134" name="Google Shape;134;p17"/>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1E293B"/>
                </a:solidFill>
                <a:latin typeface="Poppins"/>
                <a:ea typeface="Poppins"/>
                <a:cs typeface="Poppins"/>
                <a:sym typeface="Poppins"/>
              </a:rPr>
              <a:t>The Dual-View Dashboard</a:t>
            </a:r>
            <a:endParaRPr/>
          </a:p>
        </p:txBody>
      </p:sp>
      <p:pic>
        <p:nvPicPr>
          <p:cNvPr id="135" name="Google Shape;135;p17"/>
          <p:cNvPicPr preferRelativeResize="0"/>
          <p:nvPr/>
        </p:nvPicPr>
        <p:blipFill>
          <a:blip r:embed="rId4">
            <a:alphaModFix/>
          </a:blip>
          <a:stretch>
            <a:fillRect/>
          </a:stretch>
        </p:blipFill>
        <p:spPr>
          <a:xfrm>
            <a:off x="1756000" y="1714500"/>
            <a:ext cx="2756164" cy="3809999"/>
          </a:xfrm>
          <a:prstGeom prst="rect">
            <a:avLst/>
          </a:prstGeom>
          <a:noFill/>
          <a:ln>
            <a:noFill/>
          </a:ln>
        </p:spPr>
      </p:pic>
      <p:pic>
        <p:nvPicPr>
          <p:cNvPr id="136" name="Google Shape;136;p17"/>
          <p:cNvPicPr preferRelativeResize="0"/>
          <p:nvPr/>
        </p:nvPicPr>
        <p:blipFill>
          <a:blip r:embed="rId5">
            <a:alphaModFix/>
          </a:blip>
          <a:stretch>
            <a:fillRect/>
          </a:stretch>
        </p:blipFill>
        <p:spPr>
          <a:xfrm>
            <a:off x="7670650" y="1714500"/>
            <a:ext cx="2565700" cy="381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pic>
        <p:nvPicPr>
          <p:cNvPr descr="image.png" id="141" name="Google Shape;14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2" name="Google Shape;142;p18"/>
          <p:cNvPicPr preferRelativeResize="0"/>
          <p:nvPr/>
        </p:nvPicPr>
        <p:blipFill rotWithShape="1">
          <a:blip r:embed="rId4">
            <a:alphaModFix/>
          </a:blip>
          <a:srcRect b="0" l="0" r="0" t="0"/>
          <a:stretch/>
        </p:blipFill>
        <p:spPr>
          <a:xfrm>
            <a:off x="1809750" y="2164258"/>
            <a:ext cx="266700" cy="266700"/>
          </a:xfrm>
          <a:prstGeom prst="rect">
            <a:avLst/>
          </a:prstGeom>
          <a:noFill/>
          <a:ln>
            <a:noFill/>
          </a:ln>
        </p:spPr>
      </p:pic>
      <p:pic>
        <p:nvPicPr>
          <p:cNvPr descr="image.png" id="143" name="Google Shape;143;p18"/>
          <p:cNvPicPr preferRelativeResize="0"/>
          <p:nvPr/>
        </p:nvPicPr>
        <p:blipFill rotWithShape="1">
          <a:blip r:embed="rId5">
            <a:alphaModFix/>
          </a:blip>
          <a:srcRect b="0" l="0" r="0" t="0"/>
          <a:stretch/>
        </p:blipFill>
        <p:spPr>
          <a:xfrm>
            <a:off x="1809750" y="3394769"/>
            <a:ext cx="333375" cy="266700"/>
          </a:xfrm>
          <a:prstGeom prst="rect">
            <a:avLst/>
          </a:prstGeom>
          <a:noFill/>
          <a:ln>
            <a:noFill/>
          </a:ln>
        </p:spPr>
      </p:pic>
      <p:pic>
        <p:nvPicPr>
          <p:cNvPr descr="image.png" id="144" name="Google Shape;144;p18"/>
          <p:cNvPicPr preferRelativeResize="0"/>
          <p:nvPr/>
        </p:nvPicPr>
        <p:blipFill rotWithShape="1">
          <a:blip r:embed="rId6">
            <a:alphaModFix/>
          </a:blip>
          <a:srcRect b="0" l="0" r="0" t="0"/>
          <a:stretch/>
        </p:blipFill>
        <p:spPr>
          <a:xfrm>
            <a:off x="1809750" y="4625280"/>
            <a:ext cx="266700" cy="266700"/>
          </a:xfrm>
          <a:prstGeom prst="rect">
            <a:avLst/>
          </a:prstGeom>
          <a:noFill/>
          <a:ln>
            <a:noFill/>
          </a:ln>
        </p:spPr>
      </p:pic>
      <p:sp>
        <p:nvSpPr>
          <p:cNvPr id="145" name="Google Shape;145;p18"/>
          <p:cNvSpPr txBox="1"/>
          <p:nvPr/>
        </p:nvSpPr>
        <p:spPr>
          <a:xfrm>
            <a:off x="2266950" y="2116633"/>
            <a:ext cx="81153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475569"/>
                </a:solidFill>
                <a:latin typeface="Lato"/>
                <a:ea typeface="Lato"/>
                <a:cs typeface="Lato"/>
                <a:sym typeface="Lato"/>
              </a:rPr>
              <a:t>Rapid Value Delivery</a:t>
            </a:r>
            <a:endParaRPr/>
          </a:p>
        </p:txBody>
      </p:sp>
      <p:sp>
        <p:nvSpPr>
          <p:cNvPr id="146" name="Google Shape;146;p18"/>
          <p:cNvSpPr txBox="1"/>
          <p:nvPr/>
        </p:nvSpPr>
        <p:spPr>
          <a:xfrm>
            <a:off x="2266950" y="2499419"/>
            <a:ext cx="81153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Developed a functional MVP from concept to deployment in under 3 days using a Low-Code/No-Code platform (Glide).</a:t>
            </a:r>
            <a:endParaRPr/>
          </a:p>
        </p:txBody>
      </p:sp>
      <p:sp>
        <p:nvSpPr>
          <p:cNvPr id="147" name="Google Shape;147;p18"/>
          <p:cNvSpPr txBox="1"/>
          <p:nvPr/>
        </p:nvSpPr>
        <p:spPr>
          <a:xfrm>
            <a:off x="2333625" y="3347144"/>
            <a:ext cx="8048625"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475569"/>
                </a:solidFill>
                <a:latin typeface="Lato"/>
                <a:ea typeface="Lato"/>
                <a:cs typeface="Lato"/>
                <a:sym typeface="Lato"/>
              </a:rPr>
              <a:t>Automated Rule-Based Logic</a:t>
            </a:r>
            <a:endParaRPr/>
          </a:p>
        </p:txBody>
      </p:sp>
      <p:sp>
        <p:nvSpPr>
          <p:cNvPr id="148" name="Google Shape;148;p18"/>
          <p:cNvSpPr txBox="1"/>
          <p:nvPr/>
        </p:nvSpPr>
        <p:spPr>
          <a:xfrm>
            <a:off x="2333625" y="3729930"/>
            <a:ext cx="8048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Successfully translated complex government financial policy and risk rules into an automated, zero-code logic engine.</a:t>
            </a:r>
            <a:endParaRPr/>
          </a:p>
        </p:txBody>
      </p:sp>
      <p:sp>
        <p:nvSpPr>
          <p:cNvPr id="149" name="Google Shape;149;p18"/>
          <p:cNvSpPr txBox="1"/>
          <p:nvPr/>
        </p:nvSpPr>
        <p:spPr>
          <a:xfrm>
            <a:off x="2266950" y="4577655"/>
            <a:ext cx="81153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475569"/>
                </a:solidFill>
                <a:latin typeface="Lato"/>
                <a:ea typeface="Lato"/>
                <a:cs typeface="Lato"/>
                <a:sym typeface="Lato"/>
              </a:rPr>
              <a:t>Proactive Efficiency Gain</a:t>
            </a:r>
            <a:endParaRPr/>
          </a:p>
        </p:txBody>
      </p:sp>
      <p:sp>
        <p:nvSpPr>
          <p:cNvPr id="150" name="Google Shape;150;p18"/>
          <p:cNvSpPr txBox="1"/>
          <p:nvPr/>
        </p:nvSpPr>
        <p:spPr>
          <a:xfrm>
            <a:off x="2266950" y="4960441"/>
            <a:ext cx="81153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Lato"/>
                <a:ea typeface="Lato"/>
                <a:cs typeface="Lato"/>
                <a:sym typeface="Lato"/>
              </a:rPr>
              <a:t>The app enables auditors to instantly filter and prioritize high-risk and non-compliant contracts, saving significant manual review time and resources.</a:t>
            </a:r>
            <a:endParaRPr/>
          </a:p>
        </p:txBody>
      </p:sp>
      <p:sp>
        <p:nvSpPr>
          <p:cNvPr id="151" name="Google Shape;151;p18"/>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1E293B"/>
                </a:solidFill>
                <a:latin typeface="Poppins"/>
                <a:ea typeface="Poppins"/>
                <a:cs typeface="Poppins"/>
                <a:sym typeface="Poppins"/>
              </a:rPr>
              <a:t>Project Impact &amp; Key Outcomes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pic>
        <p:nvPicPr>
          <p:cNvPr descr="image.png" id="156" name="Google Shape;156;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7" name="Google Shape;157;p19"/>
          <p:cNvSpPr txBox="1"/>
          <p:nvPr/>
        </p:nvSpPr>
        <p:spPr>
          <a:xfrm>
            <a:off x="295275" y="2301180"/>
            <a:ext cx="11601450" cy="129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0" u="none" cap="none" strike="noStrike">
                <a:solidFill>
                  <a:srgbClr val="1E293B"/>
                </a:solidFill>
                <a:latin typeface="Poppins"/>
                <a:ea typeface="Poppins"/>
                <a:cs typeface="Poppins"/>
                <a:sym typeface="Poppins"/>
              </a:rPr>
              <a:t>Thank You</a:t>
            </a:r>
            <a:endParaRPr/>
          </a:p>
        </p:txBody>
      </p:sp>
      <p:sp>
        <p:nvSpPr>
          <p:cNvPr id="158" name="Google Shape;158;p19"/>
          <p:cNvSpPr txBox="1"/>
          <p:nvPr/>
        </p:nvSpPr>
        <p:spPr>
          <a:xfrm>
            <a:off x="571500" y="3863280"/>
            <a:ext cx="11049000" cy="840300"/>
          </a:xfrm>
          <a:prstGeom prst="rect">
            <a:avLst/>
          </a:prstGeom>
          <a:noFill/>
          <a:ln>
            <a:noFill/>
          </a:ln>
        </p:spPr>
        <p:txBody>
          <a:bodyPr anchorCtr="0" anchor="t" bIns="0" lIns="0" spcFirstLastPara="1" rIns="0" wrap="square" tIns="0">
            <a:spAutoFit/>
          </a:bodyPr>
          <a:lstStyle/>
          <a:p>
            <a:pPr indent="-317500" lvl="0" marL="457200" marR="0" rtl="0" algn="l">
              <a:lnSpc>
                <a:spcPct val="159952"/>
              </a:lnSpc>
              <a:spcBef>
                <a:spcPts val="0"/>
              </a:spcBef>
              <a:spcAft>
                <a:spcPts val="0"/>
              </a:spcAft>
              <a:buSzPts val="1400"/>
              <a:buChar char="-"/>
            </a:pPr>
            <a:r>
              <a:rPr lang="en-US" sz="2100">
                <a:solidFill>
                  <a:srgbClr val="475569"/>
                </a:solidFill>
                <a:latin typeface="Lato"/>
                <a:ea typeface="Lato"/>
                <a:cs typeface="Lato"/>
                <a:sym typeface="Lato"/>
              </a:rPr>
              <a:t>Ruchita Shah</a:t>
            </a:r>
            <a:br>
              <a:rPr lang="en-US" sz="2100">
                <a:solidFill>
                  <a:srgbClr val="475569"/>
                </a:solidFill>
                <a:latin typeface="Lato"/>
                <a:ea typeface="Lato"/>
                <a:cs typeface="Lato"/>
                <a:sym typeface="Lato"/>
              </a:rPr>
            </a:br>
            <a:r>
              <a:rPr lang="en-US" sz="2100">
                <a:solidFill>
                  <a:srgbClr val="475569"/>
                </a:solidFill>
                <a:latin typeface="Lato"/>
                <a:ea typeface="Lato"/>
                <a:cs typeface="Lato"/>
                <a:sym typeface="Lato"/>
              </a:rPr>
              <a:t>(</a:t>
            </a:r>
            <a:r>
              <a:rPr lang="en-US" sz="1100" u="sng">
                <a:solidFill>
                  <a:schemeClr val="hlink"/>
                </a:solidFill>
                <a:hlinkClick r:id="rId4"/>
              </a:rPr>
              <a:t>Ruchita Shah | LinkedIn</a:t>
            </a:r>
            <a:r>
              <a:rPr lang="en-US"/>
              <a:t> ||  </a:t>
            </a:r>
            <a:r>
              <a:rPr lang="en-US" sz="1100" u="sng">
                <a:solidFill>
                  <a:schemeClr val="hlink"/>
                </a:solidFill>
                <a:hlinkClick r:id="rId5"/>
              </a:rPr>
              <a:t>Ruchita Shah | Senior Data Specialist | Data portfolio</a:t>
            </a:r>
            <a:r>
              <a:rPr lang="en-US"/>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